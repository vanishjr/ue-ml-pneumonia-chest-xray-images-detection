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90" y="3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NORMAL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Train</c:v>
                </c:pt>
                <c:pt idx="1">
                  <c:v>Validation</c:v>
                </c:pt>
                <c:pt idx="2">
                  <c:v>Test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1073</c:v>
                </c:pt>
                <c:pt idx="1">
                  <c:v>268</c:v>
                </c:pt>
                <c:pt idx="2">
                  <c:v>234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297-46CC-BD06-CE46FA217DB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PNEUMONIA</c:v>
                </c:pt>
              </c:strCache>
            </c:strRef>
          </c:tx>
          <c:spPr>
            <a:solidFill>
              <a:srgbClr val="E0525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Train</c:v>
                </c:pt>
                <c:pt idx="1">
                  <c:v>Validation</c:v>
                </c:pt>
                <c:pt idx="2">
                  <c:v>Test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3099</c:v>
                </c:pt>
                <c:pt idx="1">
                  <c:v>776</c:v>
                </c:pt>
                <c:pt idx="2">
                  <c:v>390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297-46CC-BD06-CE46FA217DB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5DDE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5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5DDE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C5DDE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62840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 CNN</c:v>
                </c:pt>
              </c:strCache>
            </c:strRef>
          </c:tx>
          <c:spPr>
            <a:solidFill>
              <a:srgbClr val="E05252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Accuracy</c:v>
                </c:pt>
                <c:pt idx="1">
                  <c:v>Recall (PNEU)</c:v>
                </c:pt>
                <c:pt idx="2">
                  <c:v>Recall (NORM)</c:v>
                </c:pt>
                <c:pt idx="3">
                  <c:v>F1 (macro)</c:v>
                </c:pt>
                <c:pt idx="4">
                  <c:v>AUC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0.625</c:v>
                </c:pt>
                <c:pt idx="1">
                  <c:v>1</c:v>
                </c:pt>
                <c:pt idx="2">
                  <c:v>0</c:v>
                </c:pt>
                <c:pt idx="3">
                  <c:v>0.38500000000000001</c:v>
                </c:pt>
                <c:pt idx="4">
                  <c:v>0.91400000000000003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EEB-4D62-B32D-7EBEE458DAF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VGG16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Accuracy</c:v>
                </c:pt>
                <c:pt idx="1">
                  <c:v>Recall (PNEU)</c:v>
                </c:pt>
                <c:pt idx="2">
                  <c:v>Recall (NORM)</c:v>
                </c:pt>
                <c:pt idx="3">
                  <c:v>F1 (macro)</c:v>
                </c:pt>
                <c:pt idx="4">
                  <c:v>AUC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0.91700000000000004</c:v>
                </c:pt>
                <c:pt idx="1">
                  <c:v>0.97399999999999998</c:v>
                </c:pt>
                <c:pt idx="2">
                  <c:v>0.82099999999999995</c:v>
                </c:pt>
                <c:pt idx="3">
                  <c:v>0.90800000000000003</c:v>
                </c:pt>
                <c:pt idx="4">
                  <c:v>0.96899999999999997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EEB-4D62-B32D-7EBEE458DAF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MobileNetV2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Accuracy</c:v>
                </c:pt>
                <c:pt idx="1">
                  <c:v>Recall (PNEU)</c:v>
                </c:pt>
                <c:pt idx="2">
                  <c:v>Recall (NORM)</c:v>
                </c:pt>
                <c:pt idx="3">
                  <c:v>F1 (macro)</c:v>
                </c:pt>
                <c:pt idx="4">
                  <c:v>AUC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0.90500000000000003</c:v>
                </c:pt>
                <c:pt idx="1">
                  <c:v>0.95099999999999996</c:v>
                </c:pt>
                <c:pt idx="2">
                  <c:v>0.82899999999999996</c:v>
                </c:pt>
                <c:pt idx="3">
                  <c:v>0.89700000000000002</c:v>
                </c:pt>
                <c:pt idx="4">
                  <c:v>0.97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EEB-4D62-B32D-7EBEE458DAF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5DDE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05"/>
        </c:scaling>
        <c:delete val="0"/>
        <c:axPos val="l"/>
        <c:majorGridlines>
          <c:spPr>
            <a:ln w="6350" cap="flat">
              <a:solidFill>
                <a:srgbClr val="1E35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5DDE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C5DDE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62840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C5DDE8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C5DDE8"/>
                </a:solidFill>
                <a:latin typeface="Arial"/>
              </a:rPr>
              <a:t>Parameters (Millions)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Parameters (M)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EF4-4476-8B55-7EB8D5D67FA1}"/>
              </c:ext>
            </c:extLst>
          </c:dPt>
          <c:dPt>
            <c:idx val="1"/>
            <c:invertIfNegative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EF4-4476-8B55-7EB8D5D67FA1}"/>
              </c:ext>
            </c:extLst>
          </c:dPt>
          <c:dPt>
            <c:idx val="2"/>
            <c:invertIfNegative val="0"/>
            <c:bubble3D val="0"/>
            <c:spPr>
              <a:solidFill>
                <a:srgbClr val="F4C54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EF4-4476-8B55-7EB8D5D67FA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Custom CNN</c:v>
                </c:pt>
                <c:pt idx="1">
                  <c:v>VGG16</c:v>
                </c:pt>
                <c:pt idx="2">
                  <c:v>MobileNetV2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0.52</c:v>
                </c:pt>
                <c:pt idx="1">
                  <c:v>14.85</c:v>
                </c:pt>
                <c:pt idx="2">
                  <c:v>2.59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EF4-4476-8B55-7EB8D5D67FA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5DDE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5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5DDE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62840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C5DDE8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C5DDE8"/>
                </a:solidFill>
                <a:latin typeface="Arial"/>
              </a:rPr>
              <a:t>Inference Latency ms/img (batch=1)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Inference (ms/image)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5F1-412B-A96F-2D14E41027C4}"/>
              </c:ext>
            </c:extLst>
          </c:dPt>
          <c:dPt>
            <c:idx val="1"/>
            <c:invertIfNegative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5F1-412B-A96F-2D14E41027C4}"/>
              </c:ext>
            </c:extLst>
          </c:dPt>
          <c:dPt>
            <c:idx val="2"/>
            <c:invertIfNegative val="0"/>
            <c:bubble3D val="0"/>
            <c:spPr>
              <a:solidFill>
                <a:srgbClr val="F4C54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5F1-412B-A96F-2D14E41027C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Custom CNN</c:v>
                </c:pt>
                <c:pt idx="1">
                  <c:v>VGG16</c:v>
                </c:pt>
                <c:pt idx="2">
                  <c:v>MobileNetV2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17.03</c:v>
                </c:pt>
                <c:pt idx="1">
                  <c:v>24.17</c:v>
                </c:pt>
                <c:pt idx="2">
                  <c:v>129.49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5F1-412B-A96F-2D14E41027C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5DDE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5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5DDE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6284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4620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*MobileNetV2's high latency is a measurement artefact: batch-size-1 eager execution penalises its many depthwise layers with kernel-launch overhead. Under batched or compiled inference, its true low compute cost would show. Practical recommendation: MobileNetV2 with batched inference and a calibrated threshold.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028090">
              <a:alpha val="18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-548640" y="3840480"/>
            <a:ext cx="2011680" cy="2011680"/>
          </a:xfrm>
          <a:prstGeom prst="ellipse">
            <a:avLst/>
          </a:prstGeom>
          <a:solidFill>
            <a:srgbClr val="02C39A">
              <a:alpha val="12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Pneumonia Detection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Chest X-Ray Images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2423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5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Controlled Comparison of Custom CNN, VGG16, and MobileNetV2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00400" y="2971800"/>
            <a:ext cx="2743200" cy="457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457200" y="3154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8B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Ivan Logutov  ·  University of Europe for Applied Sciences  ·  2026 · </a:t>
            </a:r>
            <a:r>
              <a:rPr lang="ru-RU" sz="1200" dirty="0">
                <a:solidFill>
                  <a:srgbClr val="8B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80086466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365760" y="54864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 · The Problem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 need automated pneumonia screening?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867611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Pneumonia</a:t>
            </a:r>
            <a:endParaRPr lang="en-US" sz="22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leading cause of hospital admission worldwide and the #1 infectious killer of young children.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2697480" cy="1508760"/>
          </a:xfrm>
          <a:prstGeom prst="roundRect">
            <a:avLst>
              <a:gd name="adj" fmla="val 7273"/>
            </a:avLst>
          </a:prstGeom>
          <a:solidFill>
            <a:srgbClr val="16284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475488" y="190195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52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~150M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75488" y="254203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5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Childhood pneumonia cases/year globally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18688" y="1828800"/>
            <a:ext cx="2697480" cy="1508760"/>
          </a:xfrm>
          <a:prstGeom prst="roundRect">
            <a:avLst>
              <a:gd name="adj" fmla="val 7273"/>
            </a:avLst>
          </a:prstGeom>
          <a:solidFill>
            <a:srgbClr val="16284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3328416" y="190195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CXR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First-line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328416" y="254203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5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 X-ray is the primary diagnostic tool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71616" y="1828800"/>
            <a:ext cx="2697480" cy="1508760"/>
          </a:xfrm>
          <a:prstGeom prst="roundRect">
            <a:avLst>
              <a:gd name="adj" fmla="val 7273"/>
            </a:avLst>
          </a:prstGeom>
          <a:solidFill>
            <a:srgbClr val="16284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6181344" y="190195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C5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Shortage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181344" y="254203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5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lack of trained radiologists in many regions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4290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X-rays by eye is slow, subjective, and prone to inter-observer disagreement. </a:t>
            </a:r>
            <a:r>
              <a:rPr lang="en-US" sz="13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Untreated bacterial pneumonia can progress to sepsis within hours.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114800"/>
            <a:ext cx="8229600" cy="411480"/>
          </a:xfrm>
          <a:prstGeom prst="rect">
            <a:avLst/>
          </a:prstGeom>
          <a:solidFill>
            <a:srgbClr val="162840"/>
          </a:solidFill>
          <a:ln/>
        </p:spPr>
        <p:txBody>
          <a:bodyPr wrap="square" lIns="0" tIns="101600" rIns="10160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An accurate, fast, and explainable automated screening aid.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365760" y="54864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 · Dataset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Kermany 2018 — Paediatric Chest X-Ray Images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3931920" cy="3383280"/>
          </a:xfrm>
          <a:prstGeom prst="roundRect">
            <a:avLst>
              <a:gd name="adj" fmla="val 3243"/>
            </a:avLst>
          </a:prstGeom>
          <a:solidFill>
            <a:srgbClr val="16284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548640" y="107899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828800" y="150876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Guangzhou Women &amp; Children's Medical Center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984248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Access: 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828800" y="198424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· CC BY 4.0 licence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45973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images: 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828800" y="2459736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5,856 paediatric frontal CXRs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935224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Classes: 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828800" y="2935224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vs PNEUMONIA (bacterial + viral)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41071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Imbalance: 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828800" y="34107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ratio 2.89:1 (pneumonia majority)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388620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used: 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828800" y="388620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4,172 · Val 1,044 · Test 624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480560" y="10058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Distribution Across Splits</a:t>
            </a:r>
            <a:endParaRPr lang="en-US" sz="140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4434840" y="1417320"/>
          <a:ext cx="443484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365760" y="54864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· Research Questions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questions guiding the investigation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2743200" cy="1600200"/>
          </a:xfrm>
          <a:prstGeom prst="roundRect">
            <a:avLst>
              <a:gd name="adj" fmla="val 6857"/>
            </a:avLst>
          </a:prstGeom>
          <a:solidFill>
            <a:srgbClr val="16284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457200" y="11155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481328"/>
            <a:ext cx="24688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effectively can a lightweight custom CNN detect pneumonia when trained from scratch on a limited, imbalanced dataset?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46120" y="1005840"/>
            <a:ext cx="2743200" cy="1600200"/>
          </a:xfrm>
          <a:prstGeom prst="roundRect">
            <a:avLst>
              <a:gd name="adj" fmla="val 6857"/>
            </a:avLst>
          </a:prstGeom>
          <a:solidFill>
            <a:srgbClr val="16284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3383280" y="11155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383280" y="1481328"/>
            <a:ext cx="24688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transfer-learning models (VGG16, MobileNetV2) outperform a custom CNN on the Kermany benchmark?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72200" y="1005840"/>
            <a:ext cx="2743200" cy="1600200"/>
          </a:xfrm>
          <a:prstGeom prst="roundRect">
            <a:avLst>
              <a:gd name="adj" fmla="val 6857"/>
            </a:avLst>
          </a:prstGeom>
          <a:solidFill>
            <a:srgbClr val="16284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6309360" y="11155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309360" y="1481328"/>
            <a:ext cx="24688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class-weighted loss affect per-class performance given the 2.89:1 class imbalance?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4360" y="2834640"/>
            <a:ext cx="4160520" cy="1600200"/>
          </a:xfrm>
          <a:prstGeom prst="roundRect">
            <a:avLst>
              <a:gd name="adj" fmla="val 6857"/>
            </a:avLst>
          </a:prstGeom>
          <a:solidFill>
            <a:srgbClr val="16284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731520" y="294436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31520" y="3310128"/>
            <a:ext cx="38862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Grad-CAM and SHAP provide interpretable, clinically meaningful evidence of the decision regions?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937760" y="2834640"/>
            <a:ext cx="4160520" cy="1600200"/>
          </a:xfrm>
          <a:prstGeom prst="roundRect">
            <a:avLst>
              <a:gd name="adj" fmla="val 6857"/>
            </a:avLst>
          </a:prstGeom>
          <a:solidFill>
            <a:srgbClr val="16284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5074920" y="294436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074920" y="3310128"/>
            <a:ext cx="38862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accuracy, recall, and efficiency trade-offs — and what do they imply for clinical screening?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365760" y="54864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 · Methodology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466764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experimental workflow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30352" y="822960"/>
            <a:ext cx="594360" cy="5943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530352" y="822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6032" y="1508759"/>
            <a:ext cx="1143000" cy="1554483"/>
          </a:xfrm>
          <a:prstGeom prst="roundRect">
            <a:avLst>
              <a:gd name="adj" fmla="val 9600"/>
            </a:avLst>
          </a:prstGeom>
          <a:solidFill>
            <a:srgbClr val="16284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310896" y="1572768"/>
            <a:ext cx="1033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Acquisition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10896" y="1965960"/>
            <a:ext cx="1033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Kermany 2018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5,856 paediatric CXR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417320" y="2331720"/>
            <a:ext cx="109728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Shape 9"/>
          <p:cNvSpPr/>
          <p:nvPr/>
        </p:nvSpPr>
        <p:spPr>
          <a:xfrm>
            <a:off x="1792224" y="822960"/>
            <a:ext cx="594360" cy="5943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1792224" y="822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517904" y="1508759"/>
            <a:ext cx="1143000" cy="1554483"/>
          </a:xfrm>
          <a:prstGeom prst="roundRect">
            <a:avLst>
              <a:gd name="adj" fmla="val 9600"/>
            </a:avLst>
          </a:prstGeom>
          <a:solidFill>
            <a:srgbClr val="16284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1572768" y="1572768"/>
            <a:ext cx="1033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572768" y="1965960"/>
            <a:ext cx="1033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224×224 RGB · /255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80/20 split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679192" y="2331720"/>
            <a:ext cx="109728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Shape 15"/>
          <p:cNvSpPr/>
          <p:nvPr/>
        </p:nvSpPr>
        <p:spPr>
          <a:xfrm>
            <a:off x="3054096" y="822960"/>
            <a:ext cx="594360" cy="5943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3054096" y="822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779776" y="1508759"/>
            <a:ext cx="1143000" cy="1554483"/>
          </a:xfrm>
          <a:prstGeom prst="roundRect">
            <a:avLst>
              <a:gd name="adj" fmla="val 9600"/>
            </a:avLst>
          </a:prstGeom>
          <a:solidFill>
            <a:srgbClr val="16284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0" name="Text 18"/>
          <p:cNvSpPr/>
          <p:nvPr/>
        </p:nvSpPr>
        <p:spPr>
          <a:xfrm>
            <a:off x="2834640" y="1572768"/>
            <a:ext cx="1033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Augmentation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834640" y="1965960"/>
            <a:ext cx="1033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±10°, shift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zoom, h-flip (train only)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941064" y="2331720"/>
            <a:ext cx="109728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Shape 21"/>
          <p:cNvSpPr/>
          <p:nvPr/>
        </p:nvSpPr>
        <p:spPr>
          <a:xfrm>
            <a:off x="4315968" y="822960"/>
            <a:ext cx="594360" cy="5943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Text 22"/>
          <p:cNvSpPr/>
          <p:nvPr/>
        </p:nvSpPr>
        <p:spPr>
          <a:xfrm>
            <a:off x="4315968" y="822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041648" y="1508759"/>
            <a:ext cx="1143000" cy="1554483"/>
          </a:xfrm>
          <a:prstGeom prst="roundRect">
            <a:avLst>
              <a:gd name="adj" fmla="val 9600"/>
            </a:avLst>
          </a:prstGeom>
          <a:solidFill>
            <a:srgbClr val="16284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6" name="Text 24"/>
          <p:cNvSpPr/>
          <p:nvPr/>
        </p:nvSpPr>
        <p:spPr>
          <a:xfrm>
            <a:off x="4096512" y="1572768"/>
            <a:ext cx="1033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Weighting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096512" y="1965960"/>
            <a:ext cx="1033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NORMAL: 1.944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PNEU: 0.673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202936" y="2331720"/>
            <a:ext cx="109728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9" name="Shape 27"/>
          <p:cNvSpPr/>
          <p:nvPr/>
        </p:nvSpPr>
        <p:spPr>
          <a:xfrm>
            <a:off x="5577840" y="822960"/>
            <a:ext cx="594360" cy="5943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0" name="Text 28"/>
          <p:cNvSpPr/>
          <p:nvPr/>
        </p:nvSpPr>
        <p:spPr>
          <a:xfrm>
            <a:off x="5577840" y="822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303520" y="1508759"/>
            <a:ext cx="1143000" cy="1554483"/>
          </a:xfrm>
          <a:prstGeom prst="roundRect">
            <a:avLst>
              <a:gd name="adj" fmla="val 9600"/>
            </a:avLst>
          </a:prstGeom>
          <a:solidFill>
            <a:srgbClr val="16284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2" name="Text 30"/>
          <p:cNvSpPr/>
          <p:nvPr/>
        </p:nvSpPr>
        <p:spPr>
          <a:xfrm>
            <a:off x="5358384" y="1572768"/>
            <a:ext cx="1033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Training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358384" y="1965960"/>
            <a:ext cx="1033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models · Adam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BCE loss · seed 42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464808" y="2331720"/>
            <a:ext cx="109728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5" name="Shape 33"/>
          <p:cNvSpPr/>
          <p:nvPr/>
        </p:nvSpPr>
        <p:spPr>
          <a:xfrm>
            <a:off x="6839712" y="822960"/>
            <a:ext cx="594360" cy="5943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6" name="Text 34"/>
          <p:cNvSpPr/>
          <p:nvPr/>
        </p:nvSpPr>
        <p:spPr>
          <a:xfrm>
            <a:off x="6839712" y="822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565392" y="1508759"/>
            <a:ext cx="1143000" cy="1554483"/>
          </a:xfrm>
          <a:prstGeom prst="roundRect">
            <a:avLst>
              <a:gd name="adj" fmla="val 9600"/>
            </a:avLst>
          </a:prstGeom>
          <a:solidFill>
            <a:srgbClr val="16284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8" name="Text 36"/>
          <p:cNvSpPr/>
          <p:nvPr/>
        </p:nvSpPr>
        <p:spPr>
          <a:xfrm>
            <a:off x="6620256" y="1572768"/>
            <a:ext cx="1033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620256" y="1965960"/>
            <a:ext cx="1033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Acc/P/R/F1/AUC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matrices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726680" y="2331720"/>
            <a:ext cx="109728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1" name="Shape 39"/>
          <p:cNvSpPr/>
          <p:nvPr/>
        </p:nvSpPr>
        <p:spPr>
          <a:xfrm>
            <a:off x="8101584" y="822960"/>
            <a:ext cx="594360" cy="5943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2" name="Text 40"/>
          <p:cNvSpPr/>
          <p:nvPr/>
        </p:nvSpPr>
        <p:spPr>
          <a:xfrm>
            <a:off x="8101584" y="822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7827264" y="1508759"/>
            <a:ext cx="1143000" cy="1554483"/>
          </a:xfrm>
          <a:prstGeom prst="roundRect">
            <a:avLst>
              <a:gd name="adj" fmla="val 9600"/>
            </a:avLst>
          </a:prstGeom>
          <a:solidFill>
            <a:srgbClr val="16284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44" name="Text 42"/>
          <p:cNvSpPr/>
          <p:nvPr/>
        </p:nvSpPr>
        <p:spPr>
          <a:xfrm>
            <a:off x="7882128" y="1572768"/>
            <a:ext cx="1033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Explainability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882128" y="1965960"/>
            <a:ext cx="1033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+ SHAP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models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65760" y="3200400"/>
            <a:ext cx="8412480" cy="1325880"/>
          </a:xfrm>
          <a:prstGeom prst="roundRect">
            <a:avLst>
              <a:gd name="adj" fmla="val 8276"/>
            </a:avLst>
          </a:prstGeom>
          <a:solidFill>
            <a:srgbClr val="16284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47" name="Text 45"/>
          <p:cNvSpPr/>
          <p:nvPr/>
        </p:nvSpPr>
        <p:spPr>
          <a:xfrm>
            <a:off x="548640" y="32918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choices — all three models share the same input, augmentation, loss function, callbacks, and evaluation protocol. Differences in results are attributable solely to network architecture.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365760" y="54864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 · CNN Models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architectures — one shared pipeline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743200" cy="3566160"/>
          </a:xfrm>
          <a:prstGeom prst="roundRect">
            <a:avLst>
              <a:gd name="adj" fmla="val 4000"/>
            </a:avLst>
          </a:prstGeom>
          <a:solidFill>
            <a:srgbClr val="16284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2743200" cy="640080"/>
          </a:xfrm>
          <a:prstGeom prst="roundRect">
            <a:avLst>
              <a:gd name="adj" fmla="val 17143"/>
            </a:avLst>
          </a:prstGeom>
          <a:solidFill>
            <a:srgbClr val="02C39A">
              <a:alpha val="80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CNN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13075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from scratch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224×224×3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0848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 Conv3×3 → BN → ReLU → MaxPool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247802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Filters: 32 → 64 → 128 → 256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287121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GlobalAveragePooling2D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326440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512 + Dropout 0.5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36576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1 → Sigmoid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11480" y="4160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0.52 M params (all trainable)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18688" y="960120"/>
            <a:ext cx="2743200" cy="3566160"/>
          </a:xfrm>
          <a:prstGeom prst="roundRect">
            <a:avLst>
              <a:gd name="adj" fmla="val 4000"/>
            </a:avLst>
          </a:prstGeom>
          <a:solidFill>
            <a:srgbClr val="16284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7" name="Shape 15"/>
          <p:cNvSpPr/>
          <p:nvPr/>
        </p:nvSpPr>
        <p:spPr>
          <a:xfrm>
            <a:off x="3218688" y="960120"/>
            <a:ext cx="2743200" cy="640080"/>
          </a:xfrm>
          <a:prstGeom prst="roundRect">
            <a:avLst>
              <a:gd name="adj" fmla="val 17143"/>
            </a:avLst>
          </a:prstGeom>
          <a:solidFill>
            <a:srgbClr val="F4C542">
              <a:alpha val="80000"/>
            </a:srgbClr>
          </a:solidFill>
          <a:ln w="12700">
            <a:solidFill>
              <a:srgbClr val="F4C54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3310128" y="1005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VGG16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310128" y="13075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transfer learning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55848" y="16916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1–4: FROZEN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355848" y="20848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5: fine-tuned (lr 1e-5)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355848" y="247802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GlobalAveragePooling2D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355848" y="287121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256 + Dropout 0.4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355848" y="326440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1 → Sigmoid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355848" y="36576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2-phase training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310128" y="4160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14.85 M total · 7.21 M trainable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117336" y="960120"/>
            <a:ext cx="2743200" cy="3566160"/>
          </a:xfrm>
          <a:prstGeom prst="roundRect">
            <a:avLst>
              <a:gd name="adj" fmla="val 4000"/>
            </a:avLst>
          </a:prstGeom>
          <a:solidFill>
            <a:srgbClr val="16284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8" name="Shape 26"/>
          <p:cNvSpPr/>
          <p:nvPr/>
        </p:nvSpPr>
        <p:spPr>
          <a:xfrm>
            <a:off x="6117336" y="960120"/>
            <a:ext cx="2743200" cy="640080"/>
          </a:xfrm>
          <a:prstGeom prst="roundRect">
            <a:avLst>
              <a:gd name="adj" fmla="val 17143"/>
            </a:avLst>
          </a:prstGeom>
          <a:solidFill>
            <a:srgbClr val="028090">
              <a:alpha val="80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9" name="Text 27"/>
          <p:cNvSpPr/>
          <p:nvPr/>
        </p:nvSpPr>
        <p:spPr>
          <a:xfrm>
            <a:off x="6208776" y="1005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MobileNetV2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208776" y="13075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transfer learning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54496" y="16916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Depthwise-separable convolutions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254496" y="20848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Inverted residual blocks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254496" y="247802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base frozen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254496" y="287121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upper layers fine-tuned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254496" y="326440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GlobalAveragePooling2D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254496" y="36576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256 + Dropout 0.4 → Sigmoid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208776" y="4160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2.59 M total · 1.68 M trainable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365760" y="54864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 · Implementation Workflow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configuration — identical across all models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846320" cy="3520440"/>
          </a:xfrm>
          <a:prstGeom prst="roundRect">
            <a:avLst>
              <a:gd name="adj" fmla="val 3117"/>
            </a:avLst>
          </a:prstGeom>
          <a:solidFill>
            <a:srgbClr val="16284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548640" y="107899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Training Configuration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4846320" cy="301752"/>
          </a:xfrm>
          <a:prstGeom prst="rect">
            <a:avLst/>
          </a:prstGeom>
          <a:solidFill>
            <a:srgbClr val="162840"/>
          </a:solidFill>
          <a:ln w="12700">
            <a:solidFill>
              <a:srgbClr val="16284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502920" y="15179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size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011680" y="15179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 × 224 × 3  (rescaled ÷ 255)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1810512"/>
            <a:ext cx="4846320" cy="301752"/>
          </a:xfrm>
          <a:prstGeom prst="rect">
            <a:avLst/>
          </a:prstGeom>
          <a:solidFill>
            <a:srgbClr val="0F2030"/>
          </a:solidFill>
          <a:ln w="12700">
            <a:solidFill>
              <a:srgbClr val="0F203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502920" y="18196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011680" y="181965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112264"/>
            <a:ext cx="4846320" cy="301752"/>
          </a:xfrm>
          <a:prstGeom prst="rect">
            <a:avLst/>
          </a:prstGeom>
          <a:solidFill>
            <a:srgbClr val="162840"/>
          </a:solidFill>
          <a:ln w="12700">
            <a:solidFill>
              <a:srgbClr val="16284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502920" y="21214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011680" y="21214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 (lr = 1×10⁻⁴)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2414016"/>
            <a:ext cx="4846320" cy="301752"/>
          </a:xfrm>
          <a:prstGeom prst="rect">
            <a:avLst/>
          </a:prstGeom>
          <a:solidFill>
            <a:srgbClr val="0F2030"/>
          </a:solidFill>
          <a:ln w="12700">
            <a:solidFill>
              <a:srgbClr val="0F203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502920" y="24231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lr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011680" y="24231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1×10⁻⁵  (transfer models)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2715768"/>
            <a:ext cx="4846320" cy="301752"/>
          </a:xfrm>
          <a:prstGeom prst="rect">
            <a:avLst/>
          </a:prstGeom>
          <a:solidFill>
            <a:srgbClr val="162840"/>
          </a:solidFill>
          <a:ln w="12700">
            <a:solidFill>
              <a:srgbClr val="16284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Text 18"/>
          <p:cNvSpPr/>
          <p:nvPr/>
        </p:nvSpPr>
        <p:spPr>
          <a:xfrm>
            <a:off x="502920" y="27249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011680" y="27249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Class-weighted binary cross-entropy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3017520"/>
            <a:ext cx="4846320" cy="301752"/>
          </a:xfrm>
          <a:prstGeom prst="rect">
            <a:avLst/>
          </a:prstGeom>
          <a:solidFill>
            <a:srgbClr val="0F2030"/>
          </a:solidFill>
          <a:ln w="12700">
            <a:solidFill>
              <a:srgbClr val="0F203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Text 21"/>
          <p:cNvSpPr/>
          <p:nvPr/>
        </p:nvSpPr>
        <p:spPr>
          <a:xfrm>
            <a:off x="502920" y="30266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weights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011680" y="302666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NORMAL: 1.944 · PNEUMONIA: 0.673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3319272"/>
            <a:ext cx="4846320" cy="301752"/>
          </a:xfrm>
          <a:prstGeom prst="rect">
            <a:avLst/>
          </a:prstGeom>
          <a:solidFill>
            <a:srgbClr val="162840"/>
          </a:solidFill>
          <a:ln w="12700">
            <a:solidFill>
              <a:srgbClr val="16284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6" name="Text 24"/>
          <p:cNvSpPr/>
          <p:nvPr/>
        </p:nvSpPr>
        <p:spPr>
          <a:xfrm>
            <a:off x="502920" y="33284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epochs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011680" y="332841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CNN: 30  |  TL models: 10 + 10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" y="3621024"/>
            <a:ext cx="4846320" cy="301752"/>
          </a:xfrm>
          <a:prstGeom prst="rect">
            <a:avLst/>
          </a:prstGeom>
          <a:solidFill>
            <a:srgbClr val="0F2030"/>
          </a:solidFill>
          <a:ln w="12700">
            <a:solidFill>
              <a:srgbClr val="0F203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9" name="Text 27"/>
          <p:cNvSpPr/>
          <p:nvPr/>
        </p:nvSpPr>
        <p:spPr>
          <a:xfrm>
            <a:off x="502920" y="3630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011680" y="36301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val AUC  ·  patience = 5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65760" y="3922776"/>
            <a:ext cx="4846320" cy="301752"/>
          </a:xfrm>
          <a:prstGeom prst="rect">
            <a:avLst/>
          </a:prstGeom>
          <a:solidFill>
            <a:srgbClr val="162840"/>
          </a:solidFill>
          <a:ln w="12700">
            <a:solidFill>
              <a:srgbClr val="16284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2" name="Text 30"/>
          <p:cNvSpPr/>
          <p:nvPr/>
        </p:nvSpPr>
        <p:spPr>
          <a:xfrm>
            <a:off x="502920" y="3931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011680" y="39319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val AUC saved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65760" y="4224528"/>
            <a:ext cx="4846320" cy="301752"/>
          </a:xfrm>
          <a:prstGeom prst="rect">
            <a:avLst/>
          </a:prstGeom>
          <a:solidFill>
            <a:srgbClr val="0F2030"/>
          </a:solidFill>
          <a:ln w="12700">
            <a:solidFill>
              <a:srgbClr val="0F203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5" name="Text 33"/>
          <p:cNvSpPr/>
          <p:nvPr/>
        </p:nvSpPr>
        <p:spPr>
          <a:xfrm>
            <a:off x="502920" y="42336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seed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011680" y="42336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(fixed throughout)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394960" y="1005840"/>
            <a:ext cx="3474720" cy="3520440"/>
          </a:xfrm>
          <a:prstGeom prst="roundRect">
            <a:avLst>
              <a:gd name="adj" fmla="val 3158"/>
            </a:avLst>
          </a:prstGeom>
          <a:solidFill>
            <a:srgbClr val="16284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8" name="Text 36"/>
          <p:cNvSpPr/>
          <p:nvPr/>
        </p:nvSpPr>
        <p:spPr>
          <a:xfrm>
            <a:off x="5532120" y="107899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Two-Phase Transfer Strategy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577840" y="1508760"/>
            <a:ext cx="3108960" cy="1280160"/>
          </a:xfrm>
          <a:prstGeom prst="roundRect">
            <a:avLst>
              <a:gd name="adj" fmla="val 7143"/>
            </a:avLst>
          </a:prstGeom>
          <a:solidFill>
            <a:srgbClr val="0F203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0" name="Text 38"/>
          <p:cNvSpPr/>
          <p:nvPr/>
        </p:nvSpPr>
        <p:spPr>
          <a:xfrm>
            <a:off x="5669280" y="15727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 — Feature Extraction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669280" y="184708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frozen · Only new head trains · lr = 1×10⁻⁴ · 10 epochs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132320" y="2834640"/>
            <a:ext cx="0" cy="22860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3" name="Shape 41"/>
          <p:cNvSpPr/>
          <p:nvPr/>
        </p:nvSpPr>
        <p:spPr>
          <a:xfrm>
            <a:off x="5577840" y="3063240"/>
            <a:ext cx="3108960" cy="1280160"/>
          </a:xfrm>
          <a:prstGeom prst="roundRect">
            <a:avLst>
              <a:gd name="adj" fmla="val 7143"/>
            </a:avLst>
          </a:prstGeom>
          <a:solidFill>
            <a:srgbClr val="0F2030"/>
          </a:solidFill>
          <a:ln w="12700">
            <a:solidFill>
              <a:srgbClr val="F4C54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4" name="Text 42"/>
          <p:cNvSpPr/>
          <p:nvPr/>
        </p:nvSpPr>
        <p:spPr>
          <a:xfrm>
            <a:off x="5669280" y="31272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C5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 — Fine-Tuning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669280" y="340156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Deepest layers unfrozen · lr reduced 10× to 1×10⁻⁵ · 10 epochs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365760" y="449884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XAI: Grad-CAM from last conv layer  ·  SHAP with gradient-based explainer  ·  Applied to all 3 models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365760" y="54864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 · Main Results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Test-set performance on 624 images (234 Normal · 390 Pneumonia)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20040" y="914400"/>
          <a:ext cx="548640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989320" y="960120"/>
            <a:ext cx="2834640" cy="1078992"/>
          </a:xfrm>
          <a:prstGeom prst="roundRect">
            <a:avLst>
              <a:gd name="adj" fmla="val 10169"/>
            </a:avLst>
          </a:prstGeom>
          <a:solidFill>
            <a:srgbClr val="16284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7" name="Text 4"/>
          <p:cNvSpPr/>
          <p:nvPr/>
        </p:nvSpPr>
        <p:spPr>
          <a:xfrm>
            <a:off x="6080760" y="1005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91.7%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6080760" y="14264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VGG16 accuracy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080760" y="166420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5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overall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989320" y="2130552"/>
            <a:ext cx="2834640" cy="1078992"/>
          </a:xfrm>
          <a:prstGeom prst="roundRect">
            <a:avLst>
              <a:gd name="adj" fmla="val 10169"/>
            </a:avLst>
          </a:prstGeom>
          <a:solidFill>
            <a:srgbClr val="16284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6080760" y="217627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052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6080760" y="25968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pneumonia recall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080760" y="28346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5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0% normal recall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989320" y="3300984"/>
            <a:ext cx="2834640" cy="1078992"/>
          </a:xfrm>
          <a:prstGeom prst="roundRect">
            <a:avLst>
              <a:gd name="adj" fmla="val 10169"/>
            </a:avLst>
          </a:prstGeom>
          <a:solidFill>
            <a:srgbClr val="16284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/>
          <p:nvPr/>
        </p:nvSpPr>
        <p:spPr>
          <a:xfrm>
            <a:off x="6080760" y="334670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4C5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0.970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6080760" y="37673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AUC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080760" y="40050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5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of three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365760" y="54864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 · Per-Class Analysis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matrices reveal the full story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052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CNN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0040" y="12618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B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→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3000" y="15361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057400" y="15361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536192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Actual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828800"/>
            <a:ext cx="749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143000" y="1828800"/>
            <a:ext cx="868680" cy="777240"/>
          </a:xfrm>
          <a:prstGeom prst="roundRect">
            <a:avLst>
              <a:gd name="adj" fmla="val 5882"/>
            </a:avLst>
          </a:prstGeom>
          <a:solidFill>
            <a:srgbClr val="0A3A28"/>
          </a:solidFill>
          <a:ln w="12700">
            <a:solidFill>
              <a:srgbClr val="2A3A4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1143000" y="1828800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2057400" y="1828800"/>
            <a:ext cx="868680" cy="777240"/>
          </a:xfrm>
          <a:prstGeom prst="roundRect">
            <a:avLst>
              <a:gd name="adj" fmla="val 5882"/>
            </a:avLst>
          </a:prstGeom>
          <a:solidFill>
            <a:srgbClr val="3A0A0A"/>
          </a:solidFill>
          <a:ln w="12700">
            <a:solidFill>
              <a:srgbClr val="2A3A4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2057400" y="1828800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52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5760" y="2651760"/>
            <a:ext cx="749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143000" y="2651760"/>
            <a:ext cx="868680" cy="777240"/>
          </a:xfrm>
          <a:prstGeom prst="roundRect">
            <a:avLst>
              <a:gd name="adj" fmla="val 5882"/>
            </a:avLst>
          </a:prstGeom>
          <a:solidFill>
            <a:srgbClr val="3A0A0A"/>
          </a:solidFill>
          <a:ln w="12700">
            <a:solidFill>
              <a:srgbClr val="2A3A4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1143000" y="2651760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52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2057400" y="2651760"/>
            <a:ext cx="868680" cy="777240"/>
          </a:xfrm>
          <a:prstGeom prst="roundRect">
            <a:avLst>
              <a:gd name="adj" fmla="val 5882"/>
            </a:avLst>
          </a:prstGeom>
          <a:solidFill>
            <a:srgbClr val="0A2A3A"/>
          </a:solidFill>
          <a:ln w="12700">
            <a:solidFill>
              <a:srgbClr val="2A3A4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2057400" y="2651760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390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20040" y="3566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normal correctly classified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46120" y="914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VGG16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246120" y="12618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B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→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069080" y="15361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983480" y="15361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91840" y="1536192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Actual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91840" y="1828800"/>
            <a:ext cx="749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069080" y="1828800"/>
            <a:ext cx="868680" cy="777240"/>
          </a:xfrm>
          <a:prstGeom prst="roundRect">
            <a:avLst>
              <a:gd name="adj" fmla="val 5882"/>
            </a:avLst>
          </a:prstGeom>
          <a:solidFill>
            <a:srgbClr val="0A3A28"/>
          </a:solidFill>
          <a:ln w="12700">
            <a:solidFill>
              <a:srgbClr val="2A3A4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8" name="Text 26"/>
          <p:cNvSpPr/>
          <p:nvPr/>
        </p:nvSpPr>
        <p:spPr>
          <a:xfrm>
            <a:off x="4069080" y="1828800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192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4983480" y="1828800"/>
            <a:ext cx="868680" cy="777240"/>
          </a:xfrm>
          <a:prstGeom prst="roundRect">
            <a:avLst>
              <a:gd name="adj" fmla="val 5882"/>
            </a:avLst>
          </a:prstGeom>
          <a:solidFill>
            <a:srgbClr val="3A0A0A"/>
          </a:solidFill>
          <a:ln w="12700">
            <a:solidFill>
              <a:srgbClr val="2A3A4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0" name="Text 28"/>
          <p:cNvSpPr/>
          <p:nvPr/>
        </p:nvSpPr>
        <p:spPr>
          <a:xfrm>
            <a:off x="4983480" y="1828800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52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3291840" y="2651760"/>
            <a:ext cx="749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069080" y="2651760"/>
            <a:ext cx="868680" cy="777240"/>
          </a:xfrm>
          <a:prstGeom prst="roundRect">
            <a:avLst>
              <a:gd name="adj" fmla="val 5882"/>
            </a:avLst>
          </a:prstGeom>
          <a:solidFill>
            <a:srgbClr val="3A0A0A"/>
          </a:solidFill>
          <a:ln w="12700">
            <a:solidFill>
              <a:srgbClr val="2A3A4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3" name="Text 31"/>
          <p:cNvSpPr/>
          <p:nvPr/>
        </p:nvSpPr>
        <p:spPr>
          <a:xfrm>
            <a:off x="4069080" y="2651760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52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4983480" y="2651760"/>
            <a:ext cx="868680" cy="777240"/>
          </a:xfrm>
          <a:prstGeom prst="roundRect">
            <a:avLst>
              <a:gd name="adj" fmla="val 5882"/>
            </a:avLst>
          </a:prstGeom>
          <a:solidFill>
            <a:srgbClr val="0A2A3A"/>
          </a:solidFill>
          <a:ln w="12700">
            <a:solidFill>
              <a:srgbClr val="2A3A4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5" name="Text 33"/>
          <p:cNvSpPr/>
          <p:nvPr/>
        </p:nvSpPr>
        <p:spPr>
          <a:xfrm>
            <a:off x="4983480" y="2651760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380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3246120" y="3566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balanced performance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172200" y="914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MobileNetV2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172200" y="12618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B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→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995160" y="15361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909560" y="15361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217920" y="1536192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Actual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217920" y="1828800"/>
            <a:ext cx="749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995160" y="1828800"/>
            <a:ext cx="868680" cy="777240"/>
          </a:xfrm>
          <a:prstGeom prst="roundRect">
            <a:avLst>
              <a:gd name="adj" fmla="val 5882"/>
            </a:avLst>
          </a:prstGeom>
          <a:solidFill>
            <a:srgbClr val="0A3A28"/>
          </a:solidFill>
          <a:ln w="12700">
            <a:solidFill>
              <a:srgbClr val="2A3A4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4" name="Text 42"/>
          <p:cNvSpPr/>
          <p:nvPr/>
        </p:nvSpPr>
        <p:spPr>
          <a:xfrm>
            <a:off x="6995160" y="1828800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194</a:t>
            </a:r>
            <a:endParaRPr lang="en-US" sz="2200" dirty="0"/>
          </a:p>
        </p:txBody>
      </p:sp>
      <p:sp>
        <p:nvSpPr>
          <p:cNvPr id="45" name="Shape 43"/>
          <p:cNvSpPr/>
          <p:nvPr/>
        </p:nvSpPr>
        <p:spPr>
          <a:xfrm>
            <a:off x="7909560" y="1828800"/>
            <a:ext cx="868680" cy="777240"/>
          </a:xfrm>
          <a:prstGeom prst="roundRect">
            <a:avLst>
              <a:gd name="adj" fmla="val 5882"/>
            </a:avLst>
          </a:prstGeom>
          <a:solidFill>
            <a:srgbClr val="3A0A0A"/>
          </a:solidFill>
          <a:ln w="12700">
            <a:solidFill>
              <a:srgbClr val="2A3A4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6" name="Text 44"/>
          <p:cNvSpPr/>
          <p:nvPr/>
        </p:nvSpPr>
        <p:spPr>
          <a:xfrm>
            <a:off x="7909560" y="1828800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52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6217920" y="2651760"/>
            <a:ext cx="749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995160" y="2651760"/>
            <a:ext cx="868680" cy="777240"/>
          </a:xfrm>
          <a:prstGeom prst="roundRect">
            <a:avLst>
              <a:gd name="adj" fmla="val 5882"/>
            </a:avLst>
          </a:prstGeom>
          <a:solidFill>
            <a:srgbClr val="3A0A0A"/>
          </a:solidFill>
          <a:ln w="12700">
            <a:solidFill>
              <a:srgbClr val="2A3A4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9" name="Text 47"/>
          <p:cNvSpPr/>
          <p:nvPr/>
        </p:nvSpPr>
        <p:spPr>
          <a:xfrm>
            <a:off x="6995160" y="2651760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52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2200" dirty="0"/>
          </a:p>
        </p:txBody>
      </p:sp>
      <p:sp>
        <p:nvSpPr>
          <p:cNvPr id="50" name="Shape 48"/>
          <p:cNvSpPr/>
          <p:nvPr/>
        </p:nvSpPr>
        <p:spPr>
          <a:xfrm>
            <a:off x="7909560" y="2651760"/>
            <a:ext cx="868680" cy="777240"/>
          </a:xfrm>
          <a:prstGeom prst="roundRect">
            <a:avLst>
              <a:gd name="adj" fmla="val 5882"/>
            </a:avLst>
          </a:prstGeom>
          <a:solidFill>
            <a:srgbClr val="0A2A3A"/>
          </a:solidFill>
          <a:ln w="12700">
            <a:solidFill>
              <a:srgbClr val="2A3A4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1" name="Text 49"/>
          <p:cNvSpPr/>
          <p:nvPr/>
        </p:nvSpPr>
        <p:spPr>
          <a:xfrm>
            <a:off x="7909560" y="2651760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371</a:t>
            </a:r>
            <a:endParaRPr lang="en-US" sz="2200" dirty="0"/>
          </a:p>
        </p:txBody>
      </p:sp>
      <p:sp>
        <p:nvSpPr>
          <p:cNvPr id="52" name="Text 50"/>
          <p:cNvSpPr/>
          <p:nvPr/>
        </p:nvSpPr>
        <p:spPr>
          <a:xfrm>
            <a:off x="6172200" y="3566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to VGG16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20040" y="3858768"/>
            <a:ext cx="8503920" cy="777240"/>
          </a:xfrm>
          <a:prstGeom prst="roundRect">
            <a:avLst>
              <a:gd name="adj" fmla="val 14118"/>
            </a:avLst>
          </a:prstGeom>
          <a:solidFill>
            <a:srgbClr val="16284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54" name="Text 52"/>
          <p:cNvSpPr/>
          <p:nvPr/>
        </p:nvSpPr>
        <p:spPr>
          <a:xfrm>
            <a:off x="347472" y="3877056"/>
            <a:ext cx="1554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1901952" y="3877056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3182112" y="3877056"/>
            <a:ext cx="1371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 Recall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4553712" y="3877056"/>
            <a:ext cx="1417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 Recall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5971032" y="3877056"/>
            <a:ext cx="1005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6976872" y="3877056"/>
            <a:ext cx="1188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347472" y="4050792"/>
            <a:ext cx="1554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CNN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1901952" y="4050792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0.625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3182112" y="4050792"/>
            <a:ext cx="1371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 ✓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4553712" y="4050792"/>
            <a:ext cx="1417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 ✗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5971032" y="4050792"/>
            <a:ext cx="1005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0.914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6976872" y="4050792"/>
            <a:ext cx="1188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0.52 M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347472" y="4224528"/>
            <a:ext cx="1554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VGG16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1901952" y="4224528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0.917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3182112" y="4224528"/>
            <a:ext cx="1371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0.974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4553712" y="4224528"/>
            <a:ext cx="1417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0.821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5971032" y="4224528"/>
            <a:ext cx="1005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0.969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6976872" y="4224528"/>
            <a:ext cx="1188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14.85 M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347472" y="4398264"/>
            <a:ext cx="1554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1901952" y="4398264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0.905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3182112" y="4398264"/>
            <a:ext cx="1371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0.951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4553712" y="4398264"/>
            <a:ext cx="1417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0.829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5971032" y="4398264"/>
            <a:ext cx="1005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0.970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6976872" y="4398264"/>
            <a:ext cx="1188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2.59 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365760" y="54864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 · Explainability — Grad-CAM &amp; SHAP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 models look at the right regions?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3931920" cy="3291840"/>
          </a:xfrm>
          <a:prstGeom prst="roundRect">
            <a:avLst>
              <a:gd name="adj" fmla="val 3333"/>
            </a:avLst>
          </a:prstGeom>
          <a:solidFill>
            <a:srgbClr val="16284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457200" y="10241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are Grad-CAM and SHAP?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3657600" cy="1280160"/>
          </a:xfrm>
          <a:prstGeom prst="roundRect">
            <a:avLst>
              <a:gd name="adj" fmla="val 7143"/>
            </a:avLst>
          </a:prstGeom>
          <a:solidFill>
            <a:srgbClr val="0F203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594360" y="15361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Grad-CAM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810512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the final convolutional feature maps by the gradient of the predicted class. Produces a spatial heatmap showing WHERE the model looked.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3657600" cy="1280160"/>
          </a:xfrm>
          <a:prstGeom prst="roundRect">
            <a:avLst>
              <a:gd name="adj" fmla="val 7143"/>
            </a:avLst>
          </a:prstGeom>
          <a:solidFill>
            <a:srgbClr val="0F2030"/>
          </a:solidFill>
          <a:ln w="12700">
            <a:solidFill>
              <a:srgbClr val="F4C54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594360" y="29077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C5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3182112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each image region a signed contribution (+ = pushes toward PNEUMONIA, − = pushes toward NORMAL). Derived from cooperative game theory.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34840" y="960120"/>
            <a:ext cx="4389120" cy="3291840"/>
          </a:xfrm>
          <a:prstGeom prst="roundRect">
            <a:avLst>
              <a:gd name="adj" fmla="val 3333"/>
            </a:avLst>
          </a:prstGeom>
          <a:solidFill>
            <a:srgbClr val="16284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4572000" y="102412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 Across Models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0" y="1463040"/>
            <a:ext cx="4114800" cy="868680"/>
          </a:xfrm>
          <a:prstGeom prst="roundRect">
            <a:avLst>
              <a:gd name="adj" fmla="val 9474"/>
            </a:avLst>
          </a:prstGeom>
          <a:solidFill>
            <a:srgbClr val="0F203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4681728" y="1508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VGG16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81728" y="175564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Grad-CAM: tight, lung-centered heatmaps on opaque/infected regions.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SHAP: positive evidence on consolidated areas; maps agree with Grad-CAM.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0" y="2423160"/>
            <a:ext cx="4114800" cy="868680"/>
          </a:xfrm>
          <a:prstGeom prst="roundRect">
            <a:avLst>
              <a:gd name="adj" fmla="val 9474"/>
            </a:avLst>
          </a:prstGeom>
          <a:solidFill>
            <a:srgbClr val="0F2030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4681728" y="2468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MobileNetV2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81728" y="271576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Grad-CAM: similar but slightly broader lung-field focus.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SHAP: coherent positive attributions on the same regions.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0" y="3383280"/>
            <a:ext cx="4114800" cy="868680"/>
          </a:xfrm>
          <a:prstGeom prst="roundRect">
            <a:avLst>
              <a:gd name="adj" fmla="val 9474"/>
            </a:avLst>
          </a:prstGeom>
          <a:solidFill>
            <a:srgbClr val="0F2030"/>
          </a:solidFill>
          <a:ln w="12700">
            <a:solidFill>
              <a:srgbClr val="E0525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/>
          <p:nvPr/>
        </p:nvSpPr>
        <p:spPr>
          <a:xfrm>
            <a:off x="4681728" y="34290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52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CNN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81728" y="367588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Grad-CAM: diffuse attention across the chest, not lung-specific.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SHAP: noisy, scattered maps — consistent with threshold collapse.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0040" y="4370832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+ SHAP agreement on lung fields = weak but meaningful evidence of medically sensible reasoning (for transfer models).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365760" y="54864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 · Efficiency &amp; Deployment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vs size vs speed trade-offs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20040" y="914400"/>
          <a:ext cx="420624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4663440" y="914400"/>
          <a:ext cx="420624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320040" y="2971800"/>
            <a:ext cx="2743200" cy="1572768"/>
          </a:xfrm>
          <a:prstGeom prst="roundRect">
            <a:avLst>
              <a:gd name="adj" fmla="val 6977"/>
            </a:avLst>
          </a:prstGeom>
          <a:solidFill>
            <a:srgbClr val="16284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8" name="Text 4"/>
          <p:cNvSpPr/>
          <p:nvPr/>
        </p:nvSpPr>
        <p:spPr>
          <a:xfrm>
            <a:off x="457200" y="30358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52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CNN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457200" y="34015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Size: 6.06 MB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457200" y="36576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Train: 920 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457200" y="39136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Inf: 17 ms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57200" y="41879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Unusable at default threshold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3218688" y="2971800"/>
            <a:ext cx="2743200" cy="1572768"/>
          </a:xfrm>
          <a:prstGeom prst="roundRect">
            <a:avLst>
              <a:gd name="adj" fmla="val 6977"/>
            </a:avLst>
          </a:prstGeom>
          <a:solidFill>
            <a:srgbClr val="16284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4" name="Text 10"/>
          <p:cNvSpPr/>
          <p:nvPr/>
        </p:nvSpPr>
        <p:spPr>
          <a:xfrm>
            <a:off x="3355848" y="30358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VGG16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355848" y="34015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Size: 111.75 MB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3355848" y="36576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Train: 1651 s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3355848" y="39136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Inf: 24 ms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3355848" y="41879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accuracy · largest footprint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6117336" y="2971800"/>
            <a:ext cx="2743200" cy="1572768"/>
          </a:xfrm>
          <a:prstGeom prst="roundRect">
            <a:avLst>
              <a:gd name="adj" fmla="val 6977"/>
            </a:avLst>
          </a:prstGeom>
          <a:solidFill>
            <a:srgbClr val="16284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0" name="Text 16"/>
          <p:cNvSpPr/>
          <p:nvPr/>
        </p:nvSpPr>
        <p:spPr>
          <a:xfrm>
            <a:off x="6254496" y="30358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C5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MobileNetV2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6254496" y="34015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Size: 23.23 MB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6254496" y="36576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Train: 1650 s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6254496" y="39136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Inf: 129 ms*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6254496" y="41879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efficiency · *batch-1 artifact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365760" y="54864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 · Limitations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boundaries on what these results can claim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2743200" cy="1691640"/>
          </a:xfrm>
          <a:prstGeom prst="roundRect">
            <a:avLst>
              <a:gd name="adj" fmla="val 6486"/>
            </a:avLst>
          </a:prstGeom>
          <a:solidFill>
            <a:srgbClr val="16284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457200" y="11155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52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dataset, single centre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Kermany (paediatric, one hospital). Results may not generalise to adult populations or different acquisition settings.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18688" y="1005840"/>
            <a:ext cx="2743200" cy="1691640"/>
          </a:xfrm>
          <a:prstGeom prst="roundRect">
            <a:avLst>
              <a:gd name="adj" fmla="val 6486"/>
            </a:avLst>
          </a:prstGeom>
          <a:solidFill>
            <a:srgbClr val="16284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3355848" y="11155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52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external validation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55848" y="150876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are trained and tested on the same data source. Real generalisation ability is unknown.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17336" y="1005840"/>
            <a:ext cx="2743200" cy="1691640"/>
          </a:xfrm>
          <a:prstGeom prst="roundRect">
            <a:avLst>
              <a:gd name="adj" fmla="val 6486"/>
            </a:avLst>
          </a:prstGeom>
          <a:solidFill>
            <a:srgbClr val="16284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6254496" y="11155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C5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run, no variance estimate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54496" y="150876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model was trained once with a fixed seed. Close differences between VGG16 and MobileNetV2 are indicative, not statistically significant.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2816352"/>
            <a:ext cx="2743200" cy="1691640"/>
          </a:xfrm>
          <a:prstGeom prst="roundRect">
            <a:avLst>
              <a:gd name="adj" fmla="val 6486"/>
            </a:avLst>
          </a:prstGeom>
          <a:solidFill>
            <a:srgbClr val="16284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457200" y="29260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C5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Binary task only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319272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does not separate bacterial from viral pneumonia — a clinically important distinction for treatment. Data is paediatric only.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18688" y="2816352"/>
            <a:ext cx="2743200" cy="1691640"/>
          </a:xfrm>
          <a:prstGeom prst="roundRect">
            <a:avLst>
              <a:gd name="adj" fmla="val 6486"/>
            </a:avLst>
          </a:prstGeom>
          <a:solidFill>
            <a:srgbClr val="16284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3355848" y="29260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robustness testing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55848" y="3319272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degradation under blur, noise, brightness shifts, or compression. Deployment behaviour under domain shift is unknown.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17336" y="2816352"/>
            <a:ext cx="2743200" cy="1691640"/>
          </a:xfrm>
          <a:prstGeom prst="roundRect">
            <a:avLst>
              <a:gd name="adj" fmla="val 6486"/>
            </a:avLst>
          </a:prstGeom>
          <a:solidFill>
            <a:srgbClr val="16284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1" name="Text 19"/>
          <p:cNvSpPr/>
          <p:nvPr/>
        </p:nvSpPr>
        <p:spPr>
          <a:xfrm>
            <a:off x="6254496" y="29260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Inference latency artefact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54496" y="3319272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latency was measured at batch-size 1 in eager mode, overestimating its true cost under production batching.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· Conclusion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685800"/>
            <a:ext cx="2743200" cy="1691640"/>
          </a:xfrm>
          <a:prstGeom prst="roundRect">
            <a:avLst>
              <a:gd name="adj" fmla="val 6486"/>
            </a:avLst>
          </a:prstGeom>
          <a:solidFill>
            <a:srgbClr val="16284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Transfer learning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wins clearly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4173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VGG16: 91.7% acc · AUC 0.969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MobileNetV2: 90.5% · AUC 0.970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0" y="685800"/>
            <a:ext cx="2743200" cy="1691640"/>
          </a:xfrm>
          <a:prstGeom prst="roundRect">
            <a:avLst>
              <a:gd name="adj" fmla="val 6486"/>
            </a:avLst>
          </a:prstGeom>
          <a:solidFill>
            <a:srgbClr val="16284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3291840" y="749808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052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CNN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E052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calibration failure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91840" y="14173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0.914 but 0% normal recall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default 0.5 threshold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80760" y="685800"/>
            <a:ext cx="2743200" cy="1691640"/>
          </a:xfrm>
          <a:prstGeom prst="roundRect">
            <a:avLst>
              <a:gd name="adj" fmla="val 6486"/>
            </a:avLst>
          </a:prstGeom>
          <a:solidFill>
            <a:srgbClr val="16284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6172200" y="749808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C5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XAI confirms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4C5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lung-field reasoning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172200" y="14173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&amp; SHAP agree for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models — noisy for CNN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487168"/>
            <a:ext cx="8503920" cy="777240"/>
          </a:xfrm>
          <a:prstGeom prst="roundRect">
            <a:avLst>
              <a:gd name="adj" fmla="val 14118"/>
            </a:avLst>
          </a:prstGeom>
          <a:solidFill>
            <a:srgbClr val="043A40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502920" y="25603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 recommendation: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43200" y="2560320"/>
            <a:ext cx="5989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with batched inference and a calibrated decision threshold is the best default for resource-constrained screening. VGG16 is preferred where peak accuracy justifies its larger footprint. The custom CNN needs threshold recalibration before any clinical use.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355848"/>
            <a:ext cx="8503920" cy="1188720"/>
          </a:xfrm>
          <a:prstGeom prst="roundRect">
            <a:avLst>
              <a:gd name="adj" fmla="val 9231"/>
            </a:avLst>
          </a:prstGeom>
          <a:solidFill>
            <a:srgbClr val="16284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502920" y="34198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directions: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37307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External validation (adult CXR)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40050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Multiclass labels (bacterial/viral)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427939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Threshold &amp; probability calibration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0" y="37307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Robustness under image degradation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0" y="40050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Radiologist-validated XAI maps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0040" y="4507992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B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work is a controlled benchmark study, not a deployment-ready system. The results must be read under clinical oversight.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1423</Words>
  <Application>Microsoft Office PowerPoint</Application>
  <PresentationFormat>On-screen Show (16:9)</PresentationFormat>
  <Paragraphs>294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Pneumonia Detection: CNN, VGG16, MobileNetV2</dc:title>
  <dc:subject>PptxGenJS Presentation</dc:subject>
  <dc:creator>Ivan Logutov</dc:creator>
  <cp:lastModifiedBy>Ivan Logutov</cp:lastModifiedBy>
  <cp:revision>4</cp:revision>
  <dcterms:created xsi:type="dcterms:W3CDTF">2026-06-25T10:22:08Z</dcterms:created>
  <dcterms:modified xsi:type="dcterms:W3CDTF">2026-07-05T09:39:20Z</dcterms:modified>
</cp:coreProperties>
</file>